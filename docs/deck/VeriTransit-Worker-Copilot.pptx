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respondents (%)</c:v>
                </c:pt>
              </c:strCache>
            </c:strRef>
          </c:tx>
          <c:spPr>
            <a:solidFill>
              <a:srgbClr val="7E1530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0F172A"/>
                    </a:solidFill>
                    <a:latin typeface="Apto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Too much time on tasks
that could be automated</c:v>
                  </c:pt>
                  <c:pt idx="1">
                    <c:v>Not enough qualified
staff to cover the work</c:v>
                  </c:pt>
                  <c:pt idx="2">
                    <c:v>More frontline tech would
hit productivity goals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74</c:v>
                </c:pt>
                <c:pt idx="1">
                  <c:v>69</c:v>
                </c:pt>
                <c:pt idx="2">
                  <c:v>82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400" u="none">
                  <a:solidFill>
                    <a:srgbClr val="0F172A"/>
                  </a:solidFill>
                  <a:latin typeface="Apto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34155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Invoice outcomes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FEDE9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Exception</c:v>
                </c:pt>
                <c:pt idx="1">
                  <c:v>Straight-through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18.4</c:v>
                </c:pt>
                <c:pt idx="1">
                  <c:v>81.6</c:v>
                </c:pt>
              </c:numCache>
            </c:numRef>
          </c:val>
        </c:ser>
        <c:firstSliceAng val="0"/>
        <c:holeSize val="62"/>
      </c:doughnutChart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Read from QR / barcode</c:v>
                </c:pt>
              </c:strCache>
            </c:strRef>
          </c:tx>
          <c:spPr>
            <a:solidFill>
              <a:srgbClr val="0284C7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pto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Expected on the PO</c:v>
                  </c:pt>
                  <c:pt idx="1">
                    <c:v>Resolved by VeriTransit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Identified by on-device vision</c:v>
                </c:pt>
              </c:strCache>
            </c:strRef>
          </c:tx>
          <c:spPr>
            <a:solidFill>
              <a:srgbClr val="7E1530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pto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Expected on the PO</c:v>
                  </c:pt>
                  <c:pt idx="1">
                    <c:v>Resolved by VeriTransit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Unresolved — worker decides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pto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Expected on the PO</c:v>
                  </c:pt>
                  <c:pt idx="1">
                    <c:v>Resolved by VeriTransit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Declared, not yet accounted for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pto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Expected on the PO</c:v>
                  </c:pt>
                  <c:pt idx="1">
                    <c:v>Resolved by VeriTransit</c:v>
                  </c:pt>
                </c:lvl>
              </c:multiLvlStrCache>
            </c:multiLvl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10</c:v>
                </c:pt>
                <c:pt idx="1">
                  <c:v>0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Apto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334155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4155"/>
              </a:solidFill>
              <a:latin typeface="Aptos"/>
              <a:cs typeface="Apto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Manual today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72A"/>
                    </a:solidFill>
                    <a:latin typeface="Apto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Count &amp; check cargo</c:v>
                  </c:pt>
                  <c:pt idx="1">
                    <c:v>Write it down</c:v>
                  </c:pt>
                  <c:pt idx="2">
                    <c:v>Key into the ERP</c:v>
                  </c:pt>
                  <c:pt idx="3">
                    <c:v>Chase discrepancies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</c:v>
                </c:pt>
                <c:pt idx="1">
                  <c:v>6</c:v>
                </c:pt>
                <c:pt idx="2">
                  <c:v>9</c:v>
                </c:pt>
                <c:pt idx="3">
                  <c:v>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VeriTransit</c:v>
                </c:pt>
              </c:strCache>
            </c:strRef>
          </c:tx>
          <c:spPr>
            <a:solidFill>
              <a:srgbClr val="7E153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72A"/>
                    </a:solidFill>
                    <a:latin typeface="Apto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Count &amp; check cargo</c:v>
                  </c:pt>
                  <c:pt idx="1">
                    <c:v>Write it down</c:v>
                  </c:pt>
                  <c:pt idx="2">
                    <c:v>Key into the ERP</c:v>
                  </c:pt>
                  <c:pt idx="3">
                    <c:v>Chase discrepancies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</c:v>
                </c:pt>
                <c:pt idx="1">
                  <c:v>0</c:v>
                </c:pt>
                <c:pt idx="2">
                  <c:v>0</c:v>
                </c:pt>
                <c:pt idx="3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F172A"/>
                  </a:solidFill>
                  <a:latin typeface="Apto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  <c:min val="0"/>
        </c:scaling>
        <c:delete val="0"/>
        <c:axPos val="b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4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4155"/>
              </a:solidFill>
              <a:latin typeface="Aptos"/>
              <a:cs typeface="Apto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Today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0F172A"/>
                    </a:solidFill>
                    <a:latin typeface="Apto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At the dock</c:v>
                  </c:pt>
                  <c:pt idx="1">
                    <c:v>At goods receipt entry</c:v>
                  </c:pt>
                  <c:pt idx="2">
                    <c:v>At invoice matching</c:v>
                  </c:pt>
                  <c:pt idx="3">
                    <c:v>At payment dispute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20</c:v>
                </c:pt>
                <c:pt idx="2">
                  <c:v>40</c:v>
                </c:pt>
                <c:pt idx="3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VeriTransit</c:v>
                </c:pt>
              </c:strCache>
            </c:strRef>
          </c:tx>
          <c:spPr>
            <a:solidFill>
              <a:srgbClr val="7E1530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0F172A"/>
                    </a:solidFill>
                    <a:latin typeface="Apto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At the dock</c:v>
                  </c:pt>
                  <c:pt idx="1">
                    <c:v>At goods receipt entry</c:v>
                  </c:pt>
                  <c:pt idx="2">
                    <c:v>At invoice matching</c:v>
                  </c:pt>
                  <c:pt idx="3">
                    <c:v>At payment dispute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92</c:v>
                </c:pt>
                <c:pt idx="1">
                  <c:v>6</c:v>
                </c:pt>
                <c:pt idx="2">
                  <c:v>2</c:v>
                </c:pt>
                <c:pt idx="3">
                  <c:v>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950" u="none">
                  <a:solidFill>
                    <a:srgbClr val="0F172A"/>
                  </a:solidFill>
                  <a:latin typeface="Apto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334155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4155"/>
              </a:solidFill>
              <a:latin typeface="Aptos"/>
              <a:cs typeface="Apto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4-1.mp4"/><Relationship Id="rId2" Type="http://schemas.microsoft.com/office/2007/relationships/media" Target="../media/media-14-1.mp4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0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1783080"/>
            <a:ext cx="1042416" cy="1042416"/>
          </a:xfrm>
          <a:prstGeom prst="roundRect">
            <a:avLst>
              <a:gd name="adj" fmla="val 8772"/>
            </a:avLst>
          </a:prstGeom>
          <a:solidFill>
            <a:srgbClr val="7E1530">
              <a:alpha val="32000"/>
            </a:srgbClr>
          </a:solidFill>
          <a:ln w="12700">
            <a:solidFill>
              <a:srgbClr val="A846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16568" y="1783080"/>
            <a:ext cx="1042416" cy="1042416"/>
          </a:xfrm>
          <a:prstGeom prst="roundRect">
            <a:avLst>
              <a:gd name="adj" fmla="val 8772"/>
            </a:avLst>
          </a:prstGeom>
          <a:solidFill>
            <a:srgbClr val="7E1530">
              <a:alpha val="32000"/>
            </a:srgbClr>
          </a:solidFill>
          <a:ln w="12700">
            <a:solidFill>
              <a:srgbClr val="A846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15016" y="1783080"/>
            <a:ext cx="1042416" cy="1042416"/>
          </a:xfrm>
          <a:prstGeom prst="roundRect">
            <a:avLst>
              <a:gd name="adj" fmla="val 8772"/>
            </a:avLst>
          </a:prstGeom>
          <a:solidFill>
            <a:srgbClr val="7E1530">
              <a:alpha val="32000"/>
            </a:srgbClr>
          </a:solidFill>
          <a:ln w="12700">
            <a:solidFill>
              <a:srgbClr val="A846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18120" y="3081528"/>
            <a:ext cx="1042416" cy="1042416"/>
          </a:xfrm>
          <a:prstGeom prst="roundRect">
            <a:avLst>
              <a:gd name="adj" fmla="val 8772"/>
            </a:avLst>
          </a:prstGeom>
          <a:solidFill>
            <a:srgbClr val="7E1530">
              <a:alpha val="32000"/>
            </a:srgbClr>
          </a:solidFill>
          <a:ln w="12700">
            <a:solidFill>
              <a:srgbClr val="A846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16568" y="3081528"/>
            <a:ext cx="1042416" cy="1042416"/>
          </a:xfrm>
          <a:prstGeom prst="roundRect">
            <a:avLst>
              <a:gd name="adj" fmla="val 8772"/>
            </a:avLst>
          </a:prstGeom>
          <a:solidFill>
            <a:srgbClr val="7E1530">
              <a:alpha val="32000"/>
            </a:srgbClr>
          </a:solidFill>
          <a:ln w="12700">
            <a:solidFill>
              <a:srgbClr val="A846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415016" y="3081528"/>
            <a:ext cx="1042416" cy="1042416"/>
          </a:xfrm>
          <a:prstGeom prst="roundRect">
            <a:avLst>
              <a:gd name="adj" fmla="val 8772"/>
            </a:avLst>
          </a:prstGeom>
          <a:solidFill>
            <a:srgbClr val="7E1530">
              <a:alpha val="32000"/>
            </a:srgbClr>
          </a:solidFill>
          <a:ln w="12700">
            <a:solidFill>
              <a:srgbClr val="A846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18120" y="4379976"/>
            <a:ext cx="1042416" cy="1042416"/>
          </a:xfrm>
          <a:prstGeom prst="roundRect">
            <a:avLst>
              <a:gd name="adj" fmla="val 8772"/>
            </a:avLst>
          </a:prstGeom>
          <a:solidFill>
            <a:srgbClr val="7E1530">
              <a:alpha val="32000"/>
            </a:srgbClr>
          </a:solidFill>
          <a:ln w="12700">
            <a:solidFill>
              <a:srgbClr val="A846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16568" y="4379976"/>
            <a:ext cx="1042416" cy="1042416"/>
          </a:xfrm>
          <a:prstGeom prst="roundRect">
            <a:avLst>
              <a:gd name="adj" fmla="val 8772"/>
            </a:avLst>
          </a:prstGeom>
          <a:solidFill>
            <a:srgbClr val="7E1530">
              <a:alpha val="32000"/>
            </a:srgbClr>
          </a:solidFill>
          <a:ln w="12700">
            <a:solidFill>
              <a:srgbClr val="A846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15016" y="4379976"/>
            <a:ext cx="1042416" cy="1042416"/>
          </a:xfrm>
          <a:prstGeom prst="roundRect">
            <a:avLst>
              <a:gd name="adj" fmla="val 8772"/>
            </a:avLst>
          </a:prstGeom>
          <a:solidFill>
            <a:srgbClr val="D97706">
              <a:alpha val="45000"/>
            </a:srgbClr>
          </a:solidFill>
          <a:ln w="2032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15016" y="4379976"/>
            <a:ext cx="1042416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0B5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566928" y="11704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7C3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VERITRANSIT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" y="1645920"/>
            <a:ext cx="7406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AI-powered physical verification</a:t>
            </a:r>
            <a:endParaRPr lang="en-US" sz="3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B2B commerce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566928" y="3054096"/>
            <a:ext cx="822960" cy="411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3310128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E2D5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worker copilot that checks what physically arrived against the digital order — and writes the record itself.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566928" y="5230368"/>
            <a:ext cx="6675120" cy="0"/>
          </a:xfrm>
          <a:prstGeom prst="line">
            <a:avLst/>
          </a:prstGeom>
          <a:noFill/>
          <a:ln w="9525">
            <a:solidFill>
              <a:srgbClr val="8A42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539496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+ on-device AI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66928" y="5632704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9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camera, NPU, works offline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852928" y="539496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Kotlin backend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852928" y="5632704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9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reconciliation, audit chain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138928" y="539496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agent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138928" y="5632704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9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records, reports, alerts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" y="62362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89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a compliance tool. A faster pair of hands on the dock.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7E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PREMISE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B2B transaction has two realities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0692079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is structured, auditable and trusted by finance. The other is on a pallet, and gets confirmed by eye.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190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VeriTransit  ·  AI verification for B2B commerce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795967" y="64190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19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1883664"/>
            <a:ext cx="4443984" cy="3035808"/>
          </a:xfrm>
          <a:prstGeom prst="roundRect">
            <a:avLst>
              <a:gd name="adj" fmla="val 10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1883664"/>
            <a:ext cx="4443984" cy="5029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157984"/>
            <a:ext cx="38953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28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DIGITAL ORDER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2468880"/>
            <a:ext cx="3895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Exact, structured, already in the system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41248" y="2962656"/>
            <a:ext cx="3895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Purchase order — 10 units, SKU, rate, PO line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41248" y="3346704"/>
            <a:ext cx="3895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Tax invoice — value, tax, payment terms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41248" y="3730752"/>
            <a:ext cx="3895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Manifest / delivery note — what was declared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41248" y="4187952"/>
            <a:ext cx="3895344" cy="530352"/>
          </a:xfrm>
          <a:prstGeom prst="roundRect">
            <a:avLst>
              <a:gd name="adj" fmla="val 8621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4187952"/>
            <a:ext cx="38953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59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Machine-readable. Finance acts on it.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266944" y="2816352"/>
            <a:ext cx="1316736" cy="1188720"/>
          </a:xfrm>
          <a:prstGeom prst="roundRect">
            <a:avLst>
              <a:gd name="adj" fmla="val 6154"/>
            </a:avLst>
          </a:prstGeom>
          <a:solidFill>
            <a:srgbClr val="FFFBEB"/>
          </a:solidFill>
          <a:ln w="17780">
            <a:solidFill>
              <a:srgbClr val="FDE6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66944" y="2816352"/>
            <a:ext cx="131673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spc="100" kern="0" dirty="0">
                <a:solidFill>
                  <a:srgbClr val="B453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</a:t>
            </a:r>
            <a:endParaRPr lang="en-US" sz="15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500" b="1" spc="100" kern="0" dirty="0">
                <a:solidFill>
                  <a:srgbClr val="B453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047488" y="3410712"/>
            <a:ext cx="182880" cy="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583680" y="3410712"/>
            <a:ext cx="182880" cy="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839712" y="1883664"/>
            <a:ext cx="4443984" cy="3035808"/>
          </a:xfrm>
          <a:prstGeom prst="roundRect">
            <a:avLst>
              <a:gd name="adj" fmla="val 10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39712" y="1883664"/>
            <a:ext cx="4443984" cy="50292"/>
          </a:xfrm>
          <a:prstGeom prst="rect">
            <a:avLst/>
          </a:prstGeom>
          <a:solidFill>
            <a:srgbClr val="7E1530"/>
          </a:solidFill>
          <a:ln/>
        </p:spPr>
      </p:sp>
      <p:sp>
        <p:nvSpPr>
          <p:cNvPr id="23" name="Text 21"/>
          <p:cNvSpPr/>
          <p:nvPr/>
        </p:nvSpPr>
        <p:spPr>
          <a:xfrm>
            <a:off x="7114032" y="2157984"/>
            <a:ext cx="38953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7E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PHYSICAL SHIPMENT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14032" y="2468880"/>
            <a:ext cx="3895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Counted by eye, written on paper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114032" y="2962656"/>
            <a:ext cx="3895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Cartons that may be short, extra or swapped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114032" y="3346704"/>
            <a:ext cx="3895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Labels that are missing, torn or unreadable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114032" y="3730752"/>
            <a:ext cx="3895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Damage nobody logs until the customer calls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114032" y="4187952"/>
            <a:ext cx="3895344" cy="530352"/>
          </a:xfrm>
          <a:prstGeom prst="roundRect">
            <a:avLst>
              <a:gd name="adj" fmla="val 8621"/>
            </a:avLst>
          </a:prstGeom>
          <a:solidFill>
            <a:srgbClr val="FBF1F3"/>
          </a:solidFill>
          <a:ln w="12700">
            <a:solidFill>
              <a:srgbClr val="E7C3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14032" y="4187952"/>
            <a:ext cx="38953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E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Opaque to every system downstream.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32004" cy="475488"/>
          </a:xfrm>
          <a:prstGeom prst="rect">
            <a:avLst/>
          </a:prstGeom>
          <a:solidFill>
            <a:srgbClr val="7E1530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5193792"/>
            <a:ext cx="10890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mismatch between the two is discovered weeks later, in an invoice dispute — by people who never saw the cargo.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7E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 · 1 OF 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frontline is already telling us this work should be automated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0692079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Warehouse associates and the leaders who staff them agree on the diagnosis.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190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VeriTransit  ·  AI verification for B2B commerce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795967" y="64190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19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1755648"/>
            <a:ext cx="6720840" cy="3712464"/>
          </a:xfrm>
          <a:prstGeom prst="roundRect">
            <a:avLst>
              <a:gd name="adj" fmla="val 8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1901952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warehouse workers and leaders report</a:t>
            </a:r>
            <a:endParaRPr lang="en-US" sz="13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76656" y="2212848"/>
          <a:ext cx="6492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7562088" y="1755648"/>
            <a:ext cx="4059936" cy="1737360"/>
          </a:xfrm>
          <a:prstGeom prst="roundRect">
            <a:avLst>
              <a:gd name="adj" fmla="val 1842"/>
            </a:avLst>
          </a:prstGeom>
          <a:solidFill>
            <a:srgbClr val="FBF1F3"/>
          </a:solidFill>
          <a:ln w="12700">
            <a:solidFill>
              <a:srgbClr val="E7C3C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818120" y="1883664"/>
            <a:ext cx="36027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E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74%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7818120" y="2578608"/>
            <a:ext cx="35478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 workers say they spend too much time on tasks a machine could do — while 69% of operations cannot find enough qualified staff to do them.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562088" y="3648456"/>
            <a:ext cx="4059936" cy="1819656"/>
          </a:xfrm>
          <a:prstGeom prst="roundRect">
            <a:avLst>
              <a:gd name="adj" fmla="val 17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818120" y="3785616"/>
            <a:ext cx="3602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that time actually goes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836408" y="4197096"/>
            <a:ext cx="91440" cy="91440"/>
          </a:xfrm>
          <a:prstGeom prst="ellipse">
            <a:avLst/>
          </a:prstGeom>
          <a:solidFill>
            <a:srgbClr val="7E1530"/>
          </a:solidFill>
          <a:ln/>
        </p:spPr>
      </p:sp>
      <p:sp>
        <p:nvSpPr>
          <p:cNvPr id="17" name="Text 14"/>
          <p:cNvSpPr/>
          <p:nvPr/>
        </p:nvSpPr>
        <p:spPr>
          <a:xfrm>
            <a:off x="8019288" y="4114800"/>
            <a:ext cx="3328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Counting and checking cargo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019288" y="4306824"/>
            <a:ext cx="3328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eye, carton by carton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836408" y="4617720"/>
            <a:ext cx="91440" cy="91440"/>
          </a:xfrm>
          <a:prstGeom prst="ellipse">
            <a:avLst/>
          </a:prstGeom>
          <a:solidFill>
            <a:srgbClr val="7E1530"/>
          </a:solidFill>
          <a:ln/>
        </p:spPr>
      </p:sp>
      <p:sp>
        <p:nvSpPr>
          <p:cNvPr id="20" name="Text 17"/>
          <p:cNvSpPr/>
          <p:nvPr/>
        </p:nvSpPr>
        <p:spPr>
          <a:xfrm>
            <a:off x="8019288" y="4535424"/>
            <a:ext cx="3328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Writing it on a tally sheet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019288" y="4727448"/>
            <a:ext cx="3328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keying it into the ERP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836408" y="5038344"/>
            <a:ext cx="91440" cy="91440"/>
          </a:xfrm>
          <a:prstGeom prst="ellipse">
            <a:avLst/>
          </a:prstGeom>
          <a:solidFill>
            <a:srgbClr val="7E1530"/>
          </a:solidFill>
          <a:ln/>
        </p:spPr>
      </p:sp>
      <p:sp>
        <p:nvSpPr>
          <p:cNvPr id="23" name="Text 20"/>
          <p:cNvSpPr/>
          <p:nvPr/>
        </p:nvSpPr>
        <p:spPr>
          <a:xfrm>
            <a:off x="8019288" y="4956048"/>
            <a:ext cx="3328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Chasing what does not add up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019288" y="5148072"/>
            <a:ext cx="3328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days after the truck has gone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66928" y="5559552"/>
            <a:ext cx="32004" cy="475488"/>
          </a:xfrm>
          <a:prstGeom prst="rect">
            <a:avLst/>
          </a:prstGeom>
          <a:solidFill>
            <a:srgbClr val="7E1530"/>
          </a:solidFill>
          <a:ln/>
        </p:spPr>
      </p:sp>
      <p:sp>
        <p:nvSpPr>
          <p:cNvPr id="26" name="Text 23"/>
          <p:cNvSpPr/>
          <p:nvPr/>
        </p:nvSpPr>
        <p:spPr>
          <a:xfrm>
            <a:off x="731520" y="5522976"/>
            <a:ext cx="8430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demand is not for another system to update. It is for the checking itself to stop being manual.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566928" y="6071616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Zebra Technologies, Warehousing Vision Study 2025 (1,700+ warehouse associates and decision-makers).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7E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 · 2 OF 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receiving creates the errors that finance pays for later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0692079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hand-offs, two chances to be wrong — and the bill arrives in accounts payable.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190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VeriTransit  ·  AI verification for B2B commerce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795967" y="64190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19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1847088"/>
            <a:ext cx="1993392" cy="1152144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2066544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Goods arrive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76656" y="2395728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checked by eye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96896" y="2423160"/>
            <a:ext cx="182880" cy="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816352" y="1847088"/>
            <a:ext cx="1993392" cy="1152144"/>
          </a:xfrm>
          <a:prstGeom prst="roundRect">
            <a:avLst>
              <a:gd name="adj" fmla="val 4762"/>
            </a:avLst>
          </a:prstGeom>
          <a:solidFill>
            <a:srgbClr val="FFFBEB"/>
          </a:solidFill>
          <a:ln w="15240">
            <a:solidFill>
              <a:srgbClr val="FDE6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44368" y="2066544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Written on paper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26080" y="2395728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opportunity 1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2423160"/>
            <a:ext cx="182880" cy="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65776" y="1847088"/>
            <a:ext cx="1993392" cy="1152144"/>
          </a:xfrm>
          <a:prstGeom prst="roundRect">
            <a:avLst>
              <a:gd name="adj" fmla="val 4762"/>
            </a:avLst>
          </a:prstGeom>
          <a:solidFill>
            <a:srgbClr val="FFFBEB"/>
          </a:solidFill>
          <a:ln w="15240">
            <a:solidFill>
              <a:srgbClr val="FDE6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93792" y="2066544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Keyed into the ERP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75504" y="2395728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opportunity 2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095744" y="2423160"/>
            <a:ext cx="182880" cy="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315200" y="1847088"/>
            <a:ext cx="1993392" cy="1152144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43216" y="2066544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Invoice arrives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24928" y="2395728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matched against that record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345168" y="2423160"/>
            <a:ext cx="182880" cy="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564624" y="1847088"/>
            <a:ext cx="1993392" cy="1152144"/>
          </a:xfrm>
          <a:prstGeom prst="roundRect">
            <a:avLst>
              <a:gd name="adj" fmla="val 4762"/>
            </a:avLst>
          </a:prstGeom>
          <a:solidFill>
            <a:srgbClr val="FEF2F2"/>
          </a:solidFill>
          <a:ln w="1524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92640" y="2066544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674352" y="2395728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 chases the supplier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66928" y="3291840"/>
            <a:ext cx="4846320" cy="2194560"/>
          </a:xfrm>
          <a:prstGeom prst="roundRect">
            <a:avLst>
              <a:gd name="adj" fmla="val 14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41248" y="3438144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Invoices that hit an exception</a:t>
            </a:r>
            <a:endParaRPr lang="en-US" sz="130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694944" y="3639312"/>
          <a:ext cx="210312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0" name="Text 27"/>
          <p:cNvSpPr/>
          <p:nvPr/>
        </p:nvSpPr>
        <p:spPr>
          <a:xfrm>
            <a:off x="694944" y="431596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18.4%</a:t>
            </a:r>
            <a:endParaRPr lang="en-US" sz="1900" dirty="0"/>
          </a:p>
        </p:txBody>
      </p:sp>
      <p:sp>
        <p:nvSpPr>
          <p:cNvPr id="31" name="Text 28"/>
          <p:cNvSpPr/>
          <p:nvPr/>
        </p:nvSpPr>
        <p:spPr>
          <a:xfrm>
            <a:off x="2962656" y="3767328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Nearly one invoice in five needs a human to reconcile it against what was actually received.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5687568" y="3291840"/>
            <a:ext cx="2834640" cy="2194560"/>
          </a:xfrm>
          <a:prstGeom prst="roundRect">
            <a:avLst>
              <a:gd name="adj" fmla="val 14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6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5925312" y="3419856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453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4400" dirty="0"/>
          </a:p>
        </p:txBody>
      </p:sp>
      <p:sp>
        <p:nvSpPr>
          <p:cNvPr id="34" name="Text 31"/>
          <p:cNvSpPr/>
          <p:nvPr/>
        </p:nvSpPr>
        <p:spPr>
          <a:xfrm>
            <a:off x="5925312" y="4041648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hand-offs between the dock and the ledger</a:t>
            </a:r>
            <a:endParaRPr lang="en-US" sz="1350" dirty="0"/>
          </a:p>
        </p:txBody>
      </p:sp>
      <p:sp>
        <p:nvSpPr>
          <p:cNvPr id="35" name="Text 32"/>
          <p:cNvSpPr/>
          <p:nvPr/>
        </p:nvSpPr>
        <p:spPr>
          <a:xfrm>
            <a:off x="5925312" y="4498848"/>
            <a:ext cx="241401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goods are recorded twice by hand before any system compares them to the order.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8787384" y="3291840"/>
            <a:ext cx="2834640" cy="2194560"/>
          </a:xfrm>
          <a:prstGeom prst="roundRect">
            <a:avLst>
              <a:gd name="adj" fmla="val 14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6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9025128" y="3419856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Weeks</a:t>
            </a:r>
            <a:endParaRPr lang="en-US" sz="3600" dirty="0"/>
          </a:p>
        </p:txBody>
      </p:sp>
      <p:sp>
        <p:nvSpPr>
          <p:cNvPr id="38" name="Text 35"/>
          <p:cNvSpPr/>
          <p:nvPr/>
        </p:nvSpPr>
        <p:spPr>
          <a:xfrm>
            <a:off x="9025128" y="4041648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until a short shipment surfaces</a:t>
            </a:r>
            <a:endParaRPr lang="en-US" sz="1350" dirty="0"/>
          </a:p>
        </p:txBody>
      </p:sp>
      <p:sp>
        <p:nvSpPr>
          <p:cNvPr id="39" name="Text 36"/>
          <p:cNvSpPr/>
          <p:nvPr/>
        </p:nvSpPr>
        <p:spPr>
          <a:xfrm>
            <a:off x="9025128" y="4498848"/>
            <a:ext cx="241401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Typically at invoice matching or a payment dispute — long after the evidence is gone.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566928" y="566928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Ardent Partners, Accounts Payable Metrics that Matter 2025 (average invoice exception rate, 18.4%); Oracle, on paper-then-ERP receiving creating two separate opportunities for human error.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7E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NOW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things just became true — and make this buildable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0692079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demand, the hardware and the digital counterpart all arrived at the same time.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190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VeriTransit  ·  AI verification for B2B commerce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795967" y="64190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19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1828800"/>
            <a:ext cx="3520440" cy="3657600"/>
          </a:xfrm>
          <a:prstGeom prst="roundRect">
            <a:avLst>
              <a:gd name="adj" fmla="val 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1828800"/>
            <a:ext cx="3520440" cy="50292"/>
          </a:xfrm>
          <a:prstGeom prst="rect">
            <a:avLst/>
          </a:prstGeom>
          <a:solidFill>
            <a:srgbClr val="7E153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029968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7E15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395728"/>
            <a:ext cx="3008376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market is buying frontline tech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" y="3163824"/>
            <a:ext cx="300837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82% of warehouse decision-makers say more technology in workers' hands is how they hit productivity targets. The budget line exists — it is labelled augmentation, not compliance.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626864"/>
            <a:ext cx="300837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754880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E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82%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883664" y="4791456"/>
            <a:ext cx="1947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 backing frontline tech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34256" y="1828800"/>
            <a:ext cx="3520440" cy="3657600"/>
          </a:xfrm>
          <a:prstGeom prst="roundRect">
            <a:avLst>
              <a:gd name="adj" fmla="val 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34256" y="1828800"/>
            <a:ext cx="3520440" cy="50292"/>
          </a:xfrm>
          <a:prstGeom prst="rect">
            <a:avLst/>
          </a:prstGeom>
          <a:solidFill>
            <a:srgbClr val="7E1530"/>
          </a:solidFill>
          <a:ln/>
        </p:spPr>
      </p:sp>
      <p:sp>
        <p:nvSpPr>
          <p:cNvPr id="18" name="Text 16"/>
          <p:cNvSpPr/>
          <p:nvPr/>
        </p:nvSpPr>
        <p:spPr>
          <a:xfrm>
            <a:off x="4590288" y="2029968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7E15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90288" y="2395728"/>
            <a:ext cx="3008376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phone can now see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590288" y="3163824"/>
            <a:ext cx="300837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mid-range handset reads several codes at once and runs a vision model on its own NPU. No rugged scanner to buy, no bandwidth at the dock, no photo leaving the site.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90288" y="4626864"/>
            <a:ext cx="300837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90288" y="4754880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E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650992" y="4791456"/>
            <a:ext cx="1947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hardware per worker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01584" y="1828800"/>
            <a:ext cx="3520440" cy="3657600"/>
          </a:xfrm>
          <a:prstGeom prst="roundRect">
            <a:avLst>
              <a:gd name="adj" fmla="val 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01584" y="1828800"/>
            <a:ext cx="3520440" cy="50292"/>
          </a:xfrm>
          <a:prstGeom prst="rect">
            <a:avLst/>
          </a:prstGeom>
          <a:solidFill>
            <a:srgbClr val="7E1530"/>
          </a:solidFill>
          <a:ln/>
        </p:spPr>
      </p:sp>
      <p:sp>
        <p:nvSpPr>
          <p:cNvPr id="26" name="Text 24"/>
          <p:cNvSpPr/>
          <p:nvPr/>
        </p:nvSpPr>
        <p:spPr>
          <a:xfrm>
            <a:off x="8357616" y="2029968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7E15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57616" y="2395728"/>
            <a:ext cx="3008376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digital side is machine-readable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357616" y="3163824"/>
            <a:ext cx="300837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POs, e-invoices and e-way bills are structured data. Once the physical side becomes structured too, comparing them is arithmetic — not paperwork.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357616" y="4626864"/>
            <a:ext cx="300837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57616" y="4754880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E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9418320" y="4791456"/>
            <a:ext cx="1947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half of the equation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66928" y="5650992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Zebra Technologies, Warehousing Vision Study 2025. Structural context: NITI Aayog on fragmented logistics, duplicate processes, manual handling and non-uniform documentation as efficiency constraints.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7E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GAP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Today's stack checks documents. Nothing checks the goods.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0692079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layer proves something real — and each one assumes the layer below it was honest.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190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VeriTransit  ·  AI verification for B2B commerce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795967" y="64190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19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04672" y="1883664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IN PLACE TODAY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67328" y="1883664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PROVES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242048" y="1883664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CANNOT SEE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" y="2231136"/>
            <a:ext cx="11055096" cy="612648"/>
          </a:xfrm>
          <a:prstGeom prst="roundRect">
            <a:avLst>
              <a:gd name="adj" fmla="val 52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231136"/>
            <a:ext cx="28346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WMS / ERP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767328" y="2231136"/>
            <a:ext cx="33832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arrive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022592" y="2377440"/>
            <a:ext cx="0" cy="3200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42048" y="2231136"/>
            <a:ext cx="438912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53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 no idea what did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2962656"/>
            <a:ext cx="11055096" cy="612648"/>
          </a:xfrm>
          <a:prstGeom prst="roundRect">
            <a:avLst>
              <a:gd name="adj" fmla="val 52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2962656"/>
            <a:ext cx="28346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Barcode scanner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767328" y="2962656"/>
            <a:ext cx="33832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That a code was scanned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022592" y="3108960"/>
            <a:ext cx="0" cy="3200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42048" y="2962656"/>
            <a:ext cx="438912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53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that the code matches the contents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928" y="3694176"/>
            <a:ext cx="11055096" cy="612648"/>
          </a:xfrm>
          <a:prstGeom prst="roundRect">
            <a:avLst>
              <a:gd name="adj" fmla="val 52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3694176"/>
            <a:ext cx="28346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 3-way match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3767328" y="3694176"/>
            <a:ext cx="33832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against paper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022592" y="3840480"/>
            <a:ext cx="0" cy="3200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42048" y="3694176"/>
            <a:ext cx="438912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53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Trusts a goods receipt typed by hand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6928" y="4553712"/>
            <a:ext cx="11055096" cy="987552"/>
          </a:xfrm>
          <a:prstGeom prst="roundRect">
            <a:avLst>
              <a:gd name="adj" fmla="val 3241"/>
            </a:avLst>
          </a:prstGeom>
          <a:solidFill>
            <a:srgbClr val="FBF1F3"/>
          </a:solidFill>
          <a:ln w="20320">
            <a:solidFill>
              <a:srgbClr val="7E153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66928" y="4553712"/>
            <a:ext cx="50292" cy="987552"/>
          </a:xfrm>
          <a:prstGeom prst="rect">
            <a:avLst/>
          </a:prstGeom>
          <a:solidFill>
            <a:srgbClr val="7E1530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" y="4553712"/>
            <a:ext cx="28346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7E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VeriTransit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3767328" y="4553712"/>
            <a:ext cx="33832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physically there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242048" y="4608576"/>
            <a:ext cx="42062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Turns the cargo itself into structured data, at the moment a human is already standing in front of it.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66928" y="5687568"/>
            <a:ext cx="32004" cy="475488"/>
          </a:xfrm>
          <a:prstGeom prst="rect">
            <a:avLst/>
          </a:prstGeom>
          <a:solidFill>
            <a:srgbClr val="7E1530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5650992"/>
            <a:ext cx="10890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are not replacing the WMS, the scanner or the ledger. We are supplying the one input all three currently guess at.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7E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SOLUTION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the shipment. Point the phone. Done.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0692079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worker's entire interaction. Everything else happens behind that.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190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VeriTransit  ·  AI verification for B2B commerce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795967" y="64190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19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1810512"/>
            <a:ext cx="3520440" cy="2029968"/>
          </a:xfrm>
          <a:prstGeom prst="roundRect">
            <a:avLst>
              <a:gd name="adj" fmla="val 15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029968"/>
            <a:ext cx="475488" cy="475488"/>
          </a:xfrm>
          <a:prstGeom prst="roundRect">
            <a:avLst>
              <a:gd name="adj" fmla="val 96154"/>
            </a:avLst>
          </a:prstGeom>
          <a:solidFill>
            <a:srgbClr val="7E1530"/>
          </a:solidFill>
          <a:ln w="12700">
            <a:solidFill>
              <a:srgbClr val="7E15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0299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44752" y="2066544"/>
            <a:ext cx="23865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the shipment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2688336"/>
            <a:ext cx="300837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phone already knows the PO, the invoice and every carton expected. Nothing to type.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05656" y="2825496"/>
            <a:ext cx="21031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334256" y="1810512"/>
            <a:ext cx="3520440" cy="2029968"/>
          </a:xfrm>
          <a:prstGeom prst="roundRect">
            <a:avLst>
              <a:gd name="adj" fmla="val 15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90288" y="2029968"/>
            <a:ext cx="475488" cy="475488"/>
          </a:xfrm>
          <a:prstGeom prst="roundRect">
            <a:avLst>
              <a:gd name="adj" fmla="val 96154"/>
            </a:avLst>
          </a:prstGeom>
          <a:solidFill>
            <a:srgbClr val="7E1530"/>
          </a:solidFill>
          <a:ln w="12700">
            <a:solidFill>
              <a:srgbClr val="7E15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0288" y="20299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212080" y="2066544"/>
            <a:ext cx="23865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the phone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90288" y="2688336"/>
            <a:ext cx="300837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camera pass over the pallet. Codes, labels, counts and condition are read together.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872984" y="2825496"/>
            <a:ext cx="21031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01584" y="1810512"/>
            <a:ext cx="3520440" cy="2029968"/>
          </a:xfrm>
          <a:prstGeom prst="roundRect">
            <a:avLst>
              <a:gd name="adj" fmla="val 15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57616" y="2029968"/>
            <a:ext cx="475488" cy="475488"/>
          </a:xfrm>
          <a:prstGeom prst="roundRect">
            <a:avLst>
              <a:gd name="adj" fmla="val 96154"/>
            </a:avLst>
          </a:prstGeom>
          <a:solidFill>
            <a:srgbClr val="7E1530"/>
          </a:solidFill>
          <a:ln w="12700">
            <a:solidFill>
              <a:srgbClr val="7E15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57616" y="20299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979408" y="2066544"/>
            <a:ext cx="23865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357616" y="2688336"/>
            <a:ext cx="300837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verdict in seconds, and only the exceptions come back to the worker.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66928" y="4078224"/>
            <a:ext cx="11055096" cy="1207008"/>
          </a:xfrm>
          <a:prstGeom prst="roundRect">
            <a:avLst>
              <a:gd name="adj" fmla="val 2652"/>
            </a:avLst>
          </a:prstGeom>
          <a:solidFill>
            <a:srgbClr val="EFEDE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" y="422452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worker should not be filling in forms while the AI watches.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77824" y="4590288"/>
            <a:ext cx="104241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screen we add is a screen someone has to tap through at 6am on a loading dock. The AI exists to remove the boring work — the counting, the tallying, the typing — not to supervise a human who is still doing it.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66928" y="5614416"/>
            <a:ext cx="32004" cy="475488"/>
          </a:xfrm>
          <a:prstGeom prst="rect">
            <a:avLst/>
          </a:prstGeom>
          <a:solidFill>
            <a:srgbClr val="7E1530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5577840"/>
            <a:ext cx="10890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do not replace the worker. We make the worker dramatically faster.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7E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 THE HOOD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things happen in that single camera pass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0692079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independent readings of the same pallet, then one comparison against the order.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190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VeriTransit  ·  AI verification for B2B commerce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795967" y="64190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19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1810512"/>
            <a:ext cx="2624328" cy="3401568"/>
          </a:xfrm>
          <a:prstGeom prst="roundRect">
            <a:avLst>
              <a:gd name="adj" fmla="val 122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86384" y="2011680"/>
            <a:ext cx="841248" cy="274320"/>
          </a:xfrm>
          <a:prstGeom prst="roundRect">
            <a:avLst>
              <a:gd name="adj" fmla="val 166667"/>
            </a:avLst>
          </a:prstGeom>
          <a:solidFill>
            <a:srgbClr val="F0F9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2011680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60" kern="0" dirty="0">
                <a:solidFill>
                  <a:srgbClr val="028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86384" y="2395728"/>
            <a:ext cx="218541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 every code at once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86384" y="3127248"/>
            <a:ext cx="2203704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Multiple QR and barcodes in one frame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86384" y="3785616"/>
            <a:ext cx="2203704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Identifies the packages that already carry codes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86384" y="4443984"/>
            <a:ext cx="2203704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one-carton-at-a-time trigger pulling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09544" y="3291840"/>
            <a:ext cx="155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383280" y="1810512"/>
            <a:ext cx="2624328" cy="3401568"/>
          </a:xfrm>
          <a:prstGeom prst="roundRect">
            <a:avLst>
              <a:gd name="adj" fmla="val 122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02736" y="2011680"/>
            <a:ext cx="841248" cy="274320"/>
          </a:xfrm>
          <a:prstGeom prst="roundRect">
            <a:avLst>
              <a:gd name="adj" fmla="val 166667"/>
            </a:avLst>
          </a:prstGeom>
          <a:solidFill>
            <a:srgbClr val="EFEDE9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02736" y="2011680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60" kern="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02736" y="2395728"/>
            <a:ext cx="218541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digital order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3602736" y="3127248"/>
            <a:ext cx="2203704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PO, invoice, manifest or delivery note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602736" y="3785616"/>
            <a:ext cx="2203704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Photographed and parsed on the device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602736" y="4443984"/>
            <a:ext cx="2203704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Gives the pass something to be right about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025896" y="3291840"/>
            <a:ext cx="155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199632" y="1810512"/>
            <a:ext cx="2624328" cy="3401568"/>
          </a:xfrm>
          <a:prstGeom prst="roundRect">
            <a:avLst>
              <a:gd name="adj" fmla="val 122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19088" y="2011680"/>
            <a:ext cx="841248" cy="274320"/>
          </a:xfrm>
          <a:prstGeom prst="roundRect">
            <a:avLst>
              <a:gd name="adj" fmla="val 166667"/>
            </a:avLst>
          </a:prstGeom>
          <a:solidFill>
            <a:srgbClr val="FBF1F3"/>
          </a:solidFill>
          <a:ln w="12700">
            <a:solidFill>
              <a:srgbClr val="7E15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19088" y="2011680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60" kern="0" dirty="0">
                <a:solidFill>
                  <a:srgbClr val="7E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19088" y="2395728"/>
            <a:ext cx="218541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 at the cargo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6419088" y="3127248"/>
            <a:ext cx="2203704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Counts cartons and identifies products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19088" y="3785616"/>
            <a:ext cx="2203704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Reads printed labels; flags damage and re-taping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419088" y="4443984"/>
            <a:ext cx="2203704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Catches packages whose code is missing or unreadable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842248" y="3291840"/>
            <a:ext cx="155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9015984" y="1810512"/>
            <a:ext cx="2624328" cy="3401568"/>
          </a:xfrm>
          <a:prstGeom prst="roundRect">
            <a:avLst>
              <a:gd name="adj" fmla="val 122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235440" y="2011680"/>
            <a:ext cx="841248" cy="274320"/>
          </a:xfrm>
          <a:prstGeom prst="roundRect">
            <a:avLst>
              <a:gd name="adj" fmla="val 166667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35440" y="2011680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60" kern="0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235440" y="2395728"/>
            <a:ext cx="218541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Reconcile the two sides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9235440" y="3127248"/>
            <a:ext cx="2203704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 set vs declared set, line by line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235440" y="3785616"/>
            <a:ext cx="2203704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unit attributed to a source of truth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9235440" y="4443984"/>
            <a:ext cx="2203704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Anything unattributed becomes an exception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66928" y="5376672"/>
            <a:ext cx="11055096" cy="566928"/>
          </a:xfrm>
          <a:prstGeom prst="roundRect">
            <a:avLst>
              <a:gd name="adj" fmla="val 5645"/>
            </a:avLst>
          </a:prstGeom>
          <a:solidFill>
            <a:srgbClr val="FBF1F3"/>
          </a:solidFill>
          <a:ln w="12700">
            <a:solidFill>
              <a:srgbClr val="E7C3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1248" y="5376672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E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four run on the device. A dock with no signal still gets an answer — and no photo of a customer's cargo leaves the site.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7E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CORE MECHANIC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unit is attributed — or it becomes an exception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0692079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worked example: ten units on the PO, and what the pass resolves them to.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190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VeriTransit  ·  AI verification for B2B commerce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795967" y="64190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19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1773936"/>
            <a:ext cx="6035040" cy="3749040"/>
          </a:xfrm>
          <a:prstGeom prst="roundRect">
            <a:avLst>
              <a:gd name="adj" fmla="val 8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6000"/>
              </a:srgbClr>
            </a:outerShdw>
          </a:effectLst>
        </p:spPr>
      </p:sp>
      <p:graphicFrame>
        <p:nvGraphicFramePr>
          <p:cNvPr id="9" name="Chart 0" descr=""/>
          <p:cNvGraphicFramePr/>
          <p:nvPr/>
        </p:nvGraphicFramePr>
        <p:xfrm>
          <a:off x="676656" y="1901952"/>
          <a:ext cx="5815584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6912864" y="1773936"/>
            <a:ext cx="4709160" cy="2286000"/>
          </a:xfrm>
          <a:prstGeom prst="roundRect">
            <a:avLst>
              <a:gd name="adj" fmla="val 1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168896" y="1938528"/>
            <a:ext cx="4197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WORKER'S PHONE COMPUTES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168896" y="226771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Expected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524744" y="2267712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7168896" y="2615184"/>
            <a:ext cx="419709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68896" y="2688336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QR identified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524744" y="2688336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28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168896" y="3035808"/>
            <a:ext cx="419709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68896" y="310896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Vision identified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0524744" y="3108960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7E15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7168896" y="3456432"/>
            <a:ext cx="419709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168896" y="3529584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Unknown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0524744" y="3529584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6912864" y="4224528"/>
            <a:ext cx="4709160" cy="1298448"/>
          </a:xfrm>
          <a:prstGeom prst="roundRect">
            <a:avLst>
              <a:gd name="adj" fmla="val 2465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6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187184" y="4370832"/>
            <a:ext cx="4160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package needs a look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187184" y="4700016"/>
            <a:ext cx="41605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Nine units are closed out automatically. The worker is handed one carton and a reason — not a list of ten to re-check.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66928" y="5596128"/>
            <a:ext cx="32004" cy="475488"/>
          </a:xfrm>
          <a:prstGeom prst="rect">
            <a:avLst/>
          </a:prstGeom>
          <a:solidFill>
            <a:srgbClr val="7E1530"/>
          </a:solidFill>
          <a:ln/>
        </p:spPr>
      </p:sp>
      <p:sp>
        <p:nvSpPr>
          <p:cNvPr id="27" name="Text 24"/>
          <p:cNvSpPr/>
          <p:nvPr/>
        </p:nvSpPr>
        <p:spPr>
          <a:xfrm>
            <a:off x="731520" y="5559552"/>
            <a:ext cx="10890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output is not a score or a probability. It is an attribution for every unit, which is what a goods receipt legally needs.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566928" y="6108192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Worked example on PO ZD-4471; the same arithmetic runs on any line count.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7E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INTERFACE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worker sees three outcomes, and acts on one of them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0692079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 is the scarce resource on a dock. We spend it only where a human is actually needed.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190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VeriTransit  ·  AI verification for B2B commerce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795967" y="64190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19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1810512"/>
            <a:ext cx="3520440" cy="3218688"/>
          </a:xfrm>
          <a:prstGeom prst="roundRect">
            <a:avLst>
              <a:gd name="adj" fmla="val 994"/>
            </a:avLst>
          </a:prstGeom>
          <a:solidFill>
            <a:srgbClr val="FFFFFF"/>
          </a:solidFill>
          <a:ln w="17780">
            <a:solidFill>
              <a:srgbClr val="A7F3D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1810512"/>
            <a:ext cx="3520440" cy="5029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2048256"/>
            <a:ext cx="512064" cy="512064"/>
          </a:xfrm>
          <a:prstGeom prst="roundRect">
            <a:avLst>
              <a:gd name="adj" fmla="val 89286"/>
            </a:avLst>
          </a:prstGeom>
          <a:solidFill>
            <a:srgbClr val="ECFDF5"/>
          </a:solidFill>
          <a:ln w="1778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04825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63040" y="2103120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2743200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Nothing to do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2960" y="3163824"/>
            <a:ext cx="300837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 set equals the declared set. The goods receipt is already written by the time the worker looks up.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4443984"/>
            <a:ext cx="300837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535424"/>
            <a:ext cx="300837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overwhelming majority of cartons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34256" y="1810512"/>
            <a:ext cx="3520440" cy="3218688"/>
          </a:xfrm>
          <a:prstGeom prst="roundRect">
            <a:avLst>
              <a:gd name="adj" fmla="val 994"/>
            </a:avLst>
          </a:prstGeom>
          <a:solidFill>
            <a:srgbClr val="FFFFFF"/>
          </a:solidFill>
          <a:ln w="17780">
            <a:solidFill>
              <a:srgbClr val="FDE68A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34256" y="1810512"/>
            <a:ext cx="3520440" cy="5029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9" name="Shape 17"/>
          <p:cNvSpPr/>
          <p:nvPr/>
        </p:nvSpPr>
        <p:spPr>
          <a:xfrm>
            <a:off x="4590288" y="2048256"/>
            <a:ext cx="512064" cy="512064"/>
          </a:xfrm>
          <a:prstGeom prst="roundRect">
            <a:avLst>
              <a:gd name="adj" fmla="val 89286"/>
            </a:avLst>
          </a:prstGeom>
          <a:solidFill>
            <a:srgbClr val="FFFBEB"/>
          </a:solidFill>
          <a:ln w="17780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90288" y="204825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230368" y="2103120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453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THIS ONE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90288" y="2743200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carton, one question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90288" y="3163824"/>
            <a:ext cx="300837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code would not read, a count is ambiguous, packaging looks disturbed. The phone says which carton and why.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90288" y="4443984"/>
            <a:ext cx="300837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90288" y="4535424"/>
            <a:ext cx="300837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only thing the worker handles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101584" y="1810512"/>
            <a:ext cx="3520440" cy="3218688"/>
          </a:xfrm>
          <a:prstGeom prst="roundRect">
            <a:avLst>
              <a:gd name="adj" fmla="val 994"/>
            </a:avLst>
          </a:prstGeom>
          <a:solidFill>
            <a:srgbClr val="FFFFFF"/>
          </a:solidFill>
          <a:ln w="17780">
            <a:solidFill>
              <a:srgbClr val="FECACA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101584" y="1810512"/>
            <a:ext cx="3520440" cy="5029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8" name="Shape 26"/>
          <p:cNvSpPr/>
          <p:nvPr/>
        </p:nvSpPr>
        <p:spPr>
          <a:xfrm>
            <a:off x="8357616" y="2048256"/>
            <a:ext cx="512064" cy="512064"/>
          </a:xfrm>
          <a:prstGeom prst="roundRect">
            <a:avLst>
              <a:gd name="adj" fmla="val 89286"/>
            </a:avLst>
          </a:prstGeom>
          <a:solidFill>
            <a:srgbClr val="FEF2F2"/>
          </a:solidFill>
          <a:ln w="17780">
            <a:solidFill>
              <a:srgbClr val="B91C1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57616" y="204825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✕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997696" y="2103120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MISMATCH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357616" y="2743200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 and record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357616" y="3163824"/>
            <a:ext cx="300837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Wrong product, short count, or a package that does not belong to this shipment. Evidence is captured on the spot.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357616" y="4443984"/>
            <a:ext cx="300837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57616" y="4535424"/>
            <a:ext cx="300837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escalated with photos attached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66928" y="5193792"/>
            <a:ext cx="11055096" cy="731520"/>
          </a:xfrm>
          <a:prstGeom prst="roundRect">
            <a:avLst>
              <a:gd name="adj" fmla="val 4375"/>
            </a:avLst>
          </a:prstGeom>
          <a:solidFill>
            <a:srgbClr val="EFEDE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7824" y="5193792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dashboards, no scores, no confidence percentages. A worker on a dock needs a decision, and the reason behind it in one line.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7E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OUTPUT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result becomes the record — nobody types it in again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0692079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step that removes the second error opportunity, and the one finance actually cares about.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190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VeriTransit  ·  AI verification for B2B commerce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795967" y="64190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19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1810512"/>
            <a:ext cx="3520440" cy="1207008"/>
          </a:xfrm>
          <a:prstGeom prst="roundRect">
            <a:avLst>
              <a:gd name="adj" fmla="val 26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1938528"/>
            <a:ext cx="45720" cy="9509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011680"/>
            <a:ext cx="3063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Goods receipt (GRN)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22960" y="2359152"/>
            <a:ext cx="30449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 by line, with the attribution behind every unit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34256" y="1810512"/>
            <a:ext cx="3520440" cy="1207008"/>
          </a:xfrm>
          <a:prstGeom prst="roundRect">
            <a:avLst>
              <a:gd name="adj" fmla="val 26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34256" y="1938528"/>
            <a:ext cx="45720" cy="950976"/>
          </a:xfrm>
          <a:prstGeom prst="rect">
            <a:avLst/>
          </a:prstGeom>
          <a:solidFill>
            <a:srgbClr val="7E1530"/>
          </a:solidFill>
          <a:ln/>
        </p:spPr>
      </p:sp>
      <p:sp>
        <p:nvSpPr>
          <p:cNvPr id="14" name="Text 12"/>
          <p:cNvSpPr/>
          <p:nvPr/>
        </p:nvSpPr>
        <p:spPr>
          <a:xfrm>
            <a:off x="4590288" y="2011680"/>
            <a:ext cx="3063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photos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90288" y="2359152"/>
            <a:ext cx="30449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frames the decision was actually made from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01584" y="1810512"/>
            <a:ext cx="3520440" cy="1207008"/>
          </a:xfrm>
          <a:prstGeom prst="roundRect">
            <a:avLst>
              <a:gd name="adj" fmla="val 26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01584" y="1938528"/>
            <a:ext cx="45720" cy="95097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8" name="Text 16"/>
          <p:cNvSpPr/>
          <p:nvPr/>
        </p:nvSpPr>
        <p:spPr>
          <a:xfrm>
            <a:off x="8357616" y="2011680"/>
            <a:ext cx="3063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Timestamp + location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357616" y="2359152"/>
            <a:ext cx="30449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and where the check happened, from the device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3236976"/>
            <a:ext cx="3520440" cy="1207008"/>
          </a:xfrm>
          <a:prstGeom prst="roundRect">
            <a:avLst>
              <a:gd name="adj" fmla="val 26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6928" y="3364992"/>
            <a:ext cx="45720" cy="95097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438144"/>
            <a:ext cx="3063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Worker and site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22960" y="3785616"/>
            <a:ext cx="30449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stood in front of the cargo and signed it off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34256" y="3236976"/>
            <a:ext cx="3520440" cy="1207008"/>
          </a:xfrm>
          <a:prstGeom prst="roundRect">
            <a:avLst>
              <a:gd name="adj" fmla="val 26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34256" y="3364992"/>
            <a:ext cx="45720" cy="95097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6" name="Text 24"/>
          <p:cNvSpPr/>
          <p:nvPr/>
        </p:nvSpPr>
        <p:spPr>
          <a:xfrm>
            <a:off x="4590288" y="3438144"/>
            <a:ext cx="3063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Discrepancy report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590288" y="3785616"/>
            <a:ext cx="30449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only when there is something to report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101584" y="3236976"/>
            <a:ext cx="3520440" cy="1207008"/>
          </a:xfrm>
          <a:prstGeom prst="roundRect">
            <a:avLst>
              <a:gd name="adj" fmla="val 26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101584" y="3364992"/>
            <a:ext cx="45720" cy="950976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0" name="Text 28"/>
          <p:cNvSpPr/>
          <p:nvPr/>
        </p:nvSpPr>
        <p:spPr>
          <a:xfrm>
            <a:off x="8357616" y="3438144"/>
            <a:ext cx="3063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trail entry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8357616" y="3785616"/>
            <a:ext cx="30449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Append-only, so a flagged scan cannot quietly disappear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66928" y="4700016"/>
            <a:ext cx="11055096" cy="1133856"/>
          </a:xfrm>
          <a:prstGeom prst="roundRect">
            <a:avLst>
              <a:gd name="adj" fmla="val 2823"/>
            </a:avLst>
          </a:prstGeom>
          <a:solidFill>
            <a:srgbClr val="FBF1F3"/>
          </a:solidFill>
          <a:ln w="12700">
            <a:solidFill>
              <a:srgbClr val="E7C3C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77824" y="4828032"/>
            <a:ext cx="10424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 is the normal case, not the failure case.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77824" y="5175504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Docks, basements and check posts have bad signal. Everything above is produced on the device and queued; when the connection returns it syncs and the server re-verifies it independently. The worker never waits for a network.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7E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COMMERCE LAYER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make the physical side of a B2B transaction machine-readable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0692079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a payment system. The missing input to the 3-way match that every AP team already runs.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190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VeriTransit  ·  AI verification for B2B commerce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795967" y="64190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19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1865376"/>
            <a:ext cx="223113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651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201168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Purchase order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76656" y="232257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was agreed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843784" y="2286000"/>
            <a:ext cx="18288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072384" y="1865376"/>
            <a:ext cx="2231136" cy="841248"/>
          </a:xfrm>
          <a:prstGeom prst="roundRect">
            <a:avLst>
              <a:gd name="adj" fmla="val 6522"/>
            </a:avLst>
          </a:prstGeom>
          <a:solidFill>
            <a:srgbClr val="FBF1F3"/>
          </a:solidFill>
          <a:ln w="16510">
            <a:solidFill>
              <a:srgbClr val="E7C3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82112" y="201168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E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 shipment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182112" y="232257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turned up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49240" y="2286000"/>
            <a:ext cx="18288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577840" y="1865376"/>
            <a:ext cx="2231136" cy="841248"/>
          </a:xfrm>
          <a:prstGeom prst="roundRect">
            <a:avLst>
              <a:gd name="adj" fmla="val 6522"/>
            </a:avLst>
          </a:prstGeom>
          <a:solidFill>
            <a:srgbClr val="FBF1F3"/>
          </a:solidFill>
          <a:ln w="16510">
            <a:solidFill>
              <a:srgbClr val="E7C3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87568" y="201168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E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VeriTransit check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687568" y="232257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two, compared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854696" y="2286000"/>
            <a:ext cx="18288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083296" y="1865376"/>
            <a:ext cx="2231136" cy="841248"/>
          </a:xfrm>
          <a:prstGeom prst="roundRect">
            <a:avLst>
              <a:gd name="adj" fmla="val 6522"/>
            </a:avLst>
          </a:prstGeom>
          <a:solidFill>
            <a:srgbClr val="ECFDF5"/>
          </a:solidFill>
          <a:ln w="16510">
            <a:solidFill>
              <a:srgbClr val="A7F3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93024" y="201168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Goods receipt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193024" y="232257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machine-generated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405872" y="1865376"/>
            <a:ext cx="121615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 into the invoice match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3054096"/>
            <a:ext cx="5394960" cy="2194560"/>
          </a:xfrm>
          <a:prstGeom prst="roundRect">
            <a:avLst>
              <a:gd name="adj" fmla="val 1458"/>
            </a:avLst>
          </a:prstGeom>
          <a:solidFill>
            <a:srgbClr val="ECFDF5"/>
          </a:solidFill>
          <a:ln w="17780">
            <a:solidFill>
              <a:srgbClr val="A7F3D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1248" y="3291840"/>
            <a:ext cx="1810512" cy="292608"/>
          </a:xfrm>
          <a:prstGeom prst="roundRect">
            <a:avLst>
              <a:gd name="adj" fmla="val 156250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3291840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60" kern="0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EVERYTHING AGREES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41248" y="3694176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 ✓   +   Goods received ✓   +   Invoice ✓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41248" y="4151376"/>
            <a:ext cx="484632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Straight through to normal AP processing. No AP clerk touches it, because the goods-receipt line was never a guess in the first place.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27064" y="3054096"/>
            <a:ext cx="5394960" cy="2194560"/>
          </a:xfrm>
          <a:prstGeom prst="roundRect">
            <a:avLst>
              <a:gd name="adj" fmla="val 1458"/>
            </a:avLst>
          </a:prstGeom>
          <a:solidFill>
            <a:srgbClr val="FFFBEB"/>
          </a:solidFill>
          <a:ln w="17780">
            <a:solidFill>
              <a:srgbClr val="FDE68A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01384" y="3291840"/>
            <a:ext cx="1481328" cy="292608"/>
          </a:xfrm>
          <a:prstGeom prst="roundRect">
            <a:avLst>
              <a:gd name="adj" fmla="val 156250"/>
            </a:avLst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01384" y="3291840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60" kern="0" dirty="0">
                <a:solidFill>
                  <a:srgbClr val="B453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DISAGREE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501384" y="3694176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 ✓   +   Physical ✕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6501384" y="4151376"/>
            <a:ext cx="484632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exception is created at the dock, with the delta, the evidence photos and the carton it belongs to — hours after the truck arrives instead of weeks after the invoice.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66928" y="5431536"/>
            <a:ext cx="11055096" cy="585216"/>
          </a:xfrm>
          <a:prstGeom prst="roundRect">
            <a:avLst>
              <a:gd name="adj" fmla="val 5469"/>
            </a:avLst>
          </a:prstGeom>
          <a:solidFill>
            <a:srgbClr val="EFEDE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7824" y="5431536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are not saying "our AI controls payments." We are saying the physical half of the transaction finally has evidence behind it.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7E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checks decide; the model explains and routes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0692079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AI agent sits after verification, never inside it — a misread can cost a supervisor a walk, never a wrong release.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190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VeriTransit  ·  AI verification for B2B commerce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795967" y="64190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/ 19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1755648"/>
            <a:ext cx="11055096" cy="932688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182880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86384" y="2048256"/>
            <a:ext cx="2395728" cy="530352"/>
          </a:xfrm>
          <a:prstGeom prst="roundRect">
            <a:avLst>
              <a:gd name="adj" fmla="val 10345"/>
            </a:avLst>
          </a:prstGeom>
          <a:solidFill>
            <a:srgbClr val="EFEDE9"/>
          </a:solidFill>
          <a:ln w="14605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048256"/>
            <a:ext cx="21214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 / invoice / manifest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38144" y="2048256"/>
            <a:ext cx="2395728" cy="530352"/>
          </a:xfrm>
          <a:prstGeom prst="roundRect">
            <a:avLst>
              <a:gd name="adj" fmla="val 10345"/>
            </a:avLst>
          </a:prstGeom>
          <a:solidFill>
            <a:srgbClr val="EFEDE9"/>
          </a:solidFill>
          <a:ln w="14605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84448" y="2048256"/>
            <a:ext cx="21214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Signed package labels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89904" y="2048256"/>
            <a:ext cx="2395728" cy="530352"/>
          </a:xfrm>
          <a:prstGeom prst="roundRect">
            <a:avLst>
              <a:gd name="adj" fmla="val 10345"/>
            </a:avLst>
          </a:prstGeom>
          <a:solidFill>
            <a:srgbClr val="EFEDE9"/>
          </a:solidFill>
          <a:ln w="14605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6208" y="2048256"/>
            <a:ext cx="21214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cargo itself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741664" y="2048256"/>
            <a:ext cx="2395728" cy="530352"/>
          </a:xfrm>
          <a:prstGeom prst="roundRect">
            <a:avLst>
              <a:gd name="adj" fmla="val 10345"/>
            </a:avLst>
          </a:prstGeom>
          <a:solidFill>
            <a:srgbClr val="EFEDE9"/>
          </a:solidFill>
          <a:ln w="14605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87968" y="2048256"/>
            <a:ext cx="21214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Site + worker identity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2871216"/>
            <a:ext cx="11055096" cy="1371600"/>
          </a:xfrm>
          <a:prstGeom prst="roundRect">
            <a:avLst>
              <a:gd name="adj" fmla="val 2667"/>
            </a:avLst>
          </a:prstGeom>
          <a:solidFill>
            <a:srgbClr val="FBF1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" y="294436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THE DEVICE — OFFLINE CAPABLE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86384" y="3163824"/>
            <a:ext cx="2395728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4605">
            <a:solidFill>
              <a:srgbClr val="E7C3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7298" y="3255264"/>
            <a:ext cx="41148" cy="768096"/>
          </a:xfrm>
          <a:prstGeom prst="rect">
            <a:avLst/>
          </a:prstGeom>
          <a:solidFill>
            <a:srgbClr val="7E1530"/>
          </a:solidFill>
          <a:ln/>
        </p:spPr>
      </p:sp>
      <p:sp>
        <p:nvSpPr>
          <p:cNvPr id="22" name="Text 20"/>
          <p:cNvSpPr/>
          <p:nvPr/>
        </p:nvSpPr>
        <p:spPr>
          <a:xfrm>
            <a:off x="932688" y="3236976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Multi-code scanner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32688" y="3474720"/>
            <a:ext cx="2139696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QR + barcode, many at once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38144" y="3163824"/>
            <a:ext cx="2395728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4605">
            <a:solidFill>
              <a:srgbClr val="E7C3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39058" y="3255264"/>
            <a:ext cx="41148" cy="768096"/>
          </a:xfrm>
          <a:prstGeom prst="rect">
            <a:avLst/>
          </a:prstGeom>
          <a:solidFill>
            <a:srgbClr val="7E1530"/>
          </a:solidFill>
          <a:ln/>
        </p:spPr>
      </p:sp>
      <p:sp>
        <p:nvSpPr>
          <p:cNvPr id="26" name="Text 24"/>
          <p:cNvSpPr/>
          <p:nvPr/>
        </p:nvSpPr>
        <p:spPr>
          <a:xfrm>
            <a:off x="3584448" y="3236976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reader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584448" y="3474720"/>
            <a:ext cx="2139696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on-device OCR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89904" y="3163824"/>
            <a:ext cx="2395728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4605">
            <a:solidFill>
              <a:srgbClr val="E7C3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90818" y="3255264"/>
            <a:ext cx="41148" cy="768096"/>
          </a:xfrm>
          <a:prstGeom prst="rect">
            <a:avLst/>
          </a:prstGeom>
          <a:solidFill>
            <a:srgbClr val="7E1530"/>
          </a:solidFill>
          <a:ln/>
        </p:spPr>
      </p:sp>
      <p:sp>
        <p:nvSpPr>
          <p:cNvPr id="30" name="Text 28"/>
          <p:cNvSpPr/>
          <p:nvPr/>
        </p:nvSpPr>
        <p:spPr>
          <a:xfrm>
            <a:off x="6236208" y="3236976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Vision check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236208" y="3474720"/>
            <a:ext cx="2139696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count, identify, damage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741664" y="3163824"/>
            <a:ext cx="2395728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4605">
            <a:solidFill>
              <a:srgbClr val="E7C3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42578" y="3255264"/>
            <a:ext cx="41148" cy="768096"/>
          </a:xfrm>
          <a:prstGeom prst="rect">
            <a:avLst/>
          </a:prstGeom>
          <a:solidFill>
            <a:srgbClr val="7E1530"/>
          </a:solidFill>
          <a:ln/>
        </p:spPr>
      </p:sp>
      <p:sp>
        <p:nvSpPr>
          <p:cNvPr id="34" name="Text 32"/>
          <p:cNvSpPr/>
          <p:nvPr/>
        </p:nvSpPr>
        <p:spPr>
          <a:xfrm>
            <a:off x="8887968" y="3236976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Reconciler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887968" y="3474720"/>
            <a:ext cx="2139696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 vs declared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099048" y="2688336"/>
            <a:ext cx="0" cy="128016"/>
          </a:xfrm>
          <a:prstGeom prst="line">
            <a:avLst/>
          </a:prstGeom>
          <a:noFill/>
          <a:ln w="17780">
            <a:solidFill>
              <a:srgbClr val="7E1530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566928" y="4425696"/>
            <a:ext cx="11055096" cy="1371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4944" y="449884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 — AUTHORITATIVE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86384" y="4718304"/>
            <a:ext cx="2395728" cy="950976"/>
          </a:xfrm>
          <a:prstGeom prst="roundRect">
            <a:avLst>
              <a:gd name="adj" fmla="val 5769"/>
            </a:avLst>
          </a:prstGeom>
          <a:solidFill>
            <a:srgbClr val="EFEDE9"/>
          </a:solidFill>
          <a:ln w="14605">
            <a:solidFill>
              <a:srgbClr val="CBD5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87298" y="4809744"/>
            <a:ext cx="41148" cy="76809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1" name="Text 39"/>
          <p:cNvSpPr/>
          <p:nvPr/>
        </p:nvSpPr>
        <p:spPr>
          <a:xfrm>
            <a:off x="932688" y="4791456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Re-verification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932688" y="5029200"/>
            <a:ext cx="2139696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cross-device, cross-shift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438144" y="4718304"/>
            <a:ext cx="2395728" cy="950976"/>
          </a:xfrm>
          <a:prstGeom prst="roundRect">
            <a:avLst>
              <a:gd name="adj" fmla="val 5769"/>
            </a:avLst>
          </a:prstGeom>
          <a:solidFill>
            <a:srgbClr val="EFEDE9"/>
          </a:solidFill>
          <a:ln w="14605">
            <a:solidFill>
              <a:srgbClr val="CBD5E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439058" y="4809744"/>
            <a:ext cx="41148" cy="76809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5" name="Text 43"/>
          <p:cNvSpPr/>
          <p:nvPr/>
        </p:nvSpPr>
        <p:spPr>
          <a:xfrm>
            <a:off x="3584448" y="4791456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 engine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3584448" y="5029200"/>
            <a:ext cx="2139696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 · invoice · GRN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089904" y="4718304"/>
            <a:ext cx="2395728" cy="950976"/>
          </a:xfrm>
          <a:prstGeom prst="roundRect">
            <a:avLst>
              <a:gd name="adj" fmla="val 5769"/>
            </a:avLst>
          </a:prstGeom>
          <a:solidFill>
            <a:srgbClr val="EFEDE9"/>
          </a:solidFill>
          <a:ln w="14605">
            <a:solidFill>
              <a:srgbClr val="CBD5E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090818" y="4809744"/>
            <a:ext cx="41148" cy="76809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9" name="Text 47"/>
          <p:cNvSpPr/>
          <p:nvPr/>
        </p:nvSpPr>
        <p:spPr>
          <a:xfrm>
            <a:off x="6236208" y="4791456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chain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6236208" y="5029200"/>
            <a:ext cx="2139696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append-only, hash-linked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8741664" y="4718304"/>
            <a:ext cx="2395728" cy="950976"/>
          </a:xfrm>
          <a:prstGeom prst="roundRect">
            <a:avLst>
              <a:gd name="adj" fmla="val 5769"/>
            </a:avLst>
          </a:prstGeom>
          <a:solidFill>
            <a:srgbClr val="F0F9FF"/>
          </a:solidFill>
          <a:ln w="14605">
            <a:solidFill>
              <a:srgbClr val="BAE6F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742578" y="4809744"/>
            <a:ext cx="41148" cy="76809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53" name="Text 51"/>
          <p:cNvSpPr/>
          <p:nvPr/>
        </p:nvSpPr>
        <p:spPr>
          <a:xfrm>
            <a:off x="8887968" y="4791456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agent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8887968" y="5029200"/>
            <a:ext cx="2139696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records, reports, alerts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099048" y="4242816"/>
            <a:ext cx="0" cy="128016"/>
          </a:xfrm>
          <a:prstGeom prst="line">
            <a:avLst/>
          </a:prstGeom>
          <a:noFill/>
          <a:ln w="1778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56" name="Text 54"/>
          <p:cNvSpPr/>
          <p:nvPr/>
        </p:nvSpPr>
        <p:spPr>
          <a:xfrm>
            <a:off x="566928" y="5870448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Consumers:  ERP / WMS   ·   AP exception queue   ·   Telegram for supervisors   ·   dispute &amp; insurance evidence packs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7E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WORKFLOW, END TO END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pass over ten cartons, from camera to goods receipt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190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VeriTransit  ·  AI verification for B2B commerce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9795967" y="64190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/ 19</a:t>
            </a:r>
            <a:endParaRPr lang="en-US" sz="95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847088" y="1188720"/>
            <a:ext cx="8503920" cy="47823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6035040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15-second embedded clip — press play in slideshow. The final frame is the static diagram, so the slide reads correctly in print and PDF.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7E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AI OPERATIONS AGENT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agent does not decide whether the cargo matches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0692079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takes a structured, already-decided result and does the chores that follow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190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VeriTransit  ·  AI verification for B2B commerce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795967" y="64190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/ 19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1792224"/>
            <a:ext cx="3840480" cy="3712464"/>
          </a:xfrm>
          <a:prstGeom prst="roundRect">
            <a:avLst>
              <a:gd name="adj" fmla="val 862"/>
            </a:avLst>
          </a:prstGeom>
          <a:solidFill>
            <a:srgbClr val="FEF2F2"/>
          </a:solidFill>
          <a:ln w="17780">
            <a:solidFill>
              <a:srgbClr val="FECACA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195681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THE AGENT'S JOB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41248" y="224942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Judging the match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Whether ten units are present is arithmetic over scans and vision output — rule-based, explainable, reproducible, and testable. A language model has no business in that decision, and putting one there is how a demo becomes an audit finding.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41248" y="4663440"/>
            <a:ext cx="3291840" cy="0"/>
          </a:xfrm>
          <a:prstGeom prst="line">
            <a:avLst/>
          </a:prstGeom>
          <a:noFill/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4773168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can raise a flag. It can never clear one on its own.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792224"/>
            <a:ext cx="6958584" cy="3712464"/>
          </a:xfrm>
          <a:prstGeom prst="roundRect">
            <a:avLst>
              <a:gd name="adj" fmla="val 8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1956816"/>
            <a:ext cx="64099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ACTUALLY DOES, ONCE THE RESULT EXISTS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37760" y="2286000"/>
            <a:ext cx="3108960" cy="896112"/>
          </a:xfrm>
          <a:prstGeom prst="roundRect">
            <a:avLst>
              <a:gd name="adj" fmla="val 5102"/>
            </a:avLst>
          </a:prstGeom>
          <a:solidFill>
            <a:srgbClr val="EFEDE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0" y="239572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Updates the database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120640" y="2706624"/>
            <a:ext cx="27889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shipment, line items, goods-receipt state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229600" y="2286000"/>
            <a:ext cx="3108960" cy="896112"/>
          </a:xfrm>
          <a:prstGeom prst="roundRect">
            <a:avLst>
              <a:gd name="adj" fmla="val 5102"/>
            </a:avLst>
          </a:prstGeom>
          <a:solidFill>
            <a:srgbClr val="EFEDE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239572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Generates the discrepancy report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412480" y="2706624"/>
            <a:ext cx="27889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supplier-ready, with evidence attached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937760" y="3328416"/>
            <a:ext cx="3108960" cy="896112"/>
          </a:xfrm>
          <a:prstGeom prst="roundRect">
            <a:avLst>
              <a:gd name="adj" fmla="val 5102"/>
            </a:avLst>
          </a:prstGeom>
          <a:solidFill>
            <a:srgbClr val="EFEDE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343814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Notifies the right person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120640" y="3749040"/>
            <a:ext cx="27889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supervisor, supplier, AP — by role, not broadcast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29600" y="3328416"/>
            <a:ext cx="3108960" cy="896112"/>
          </a:xfrm>
          <a:prstGeom prst="roundRect">
            <a:avLst>
              <a:gd name="adj" fmla="val 5102"/>
            </a:avLst>
          </a:prstGeom>
          <a:solidFill>
            <a:srgbClr val="EFEDE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0" y="343814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Creates the GRN record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412480" y="3749040"/>
            <a:ext cx="27889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the format the ERP expects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937760" y="4370832"/>
            <a:ext cx="3108960" cy="896112"/>
          </a:xfrm>
          <a:prstGeom prst="roundRect">
            <a:avLst>
              <a:gd name="adj" fmla="val 5102"/>
            </a:avLst>
          </a:prstGeom>
          <a:solidFill>
            <a:srgbClr val="EFEDE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448056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Answers questions in Telegram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120640" y="4791456"/>
            <a:ext cx="27889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"status SHP-90231", "why was it held?"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229600" y="4370832"/>
            <a:ext cx="3108960" cy="896112"/>
          </a:xfrm>
          <a:prstGeom prst="roundRect">
            <a:avLst>
              <a:gd name="adj" fmla="val 5102"/>
            </a:avLst>
          </a:prstGeom>
          <a:solidFill>
            <a:srgbClr val="EFEDE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0" y="448056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Queues everything offline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412480" y="4791456"/>
            <a:ext cx="27889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replays it when connectivity returns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66928" y="5650992"/>
            <a:ext cx="32004" cy="475488"/>
          </a:xfrm>
          <a:prstGeom prst="rect">
            <a:avLst/>
          </a:prstGeom>
          <a:solidFill>
            <a:srgbClr val="7E1530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5614416"/>
            <a:ext cx="10890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engines decide. The model explains, drafts and routes — inside a policy it cannot widen.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7E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DEMO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Thirty seconds, one mismatch, the whole story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0692079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ten screens. One shipment that is wrong, and what the phone does about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190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VeriTransit  ·  AI verification for B2B commerce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795967" y="64190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/ 19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1828800"/>
            <a:ext cx="1709928" cy="2834640"/>
          </a:xfrm>
          <a:prstGeom prst="roundRect">
            <a:avLst>
              <a:gd name="adj" fmla="val 18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1828800"/>
            <a:ext cx="1709928" cy="457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1975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3232" y="228600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order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13232" y="2633472"/>
            <a:ext cx="1417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 says 5 Dell monitors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13232" y="4096512"/>
            <a:ext cx="14173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4169664"/>
            <a:ext cx="1453896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× MONITOR-DELL-24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240280" y="3017520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423160" y="1828800"/>
            <a:ext cx="1709928" cy="2834640"/>
          </a:xfrm>
          <a:prstGeom prst="roundRect">
            <a:avLst>
              <a:gd name="adj" fmla="val 1872"/>
            </a:avLst>
          </a:prstGeom>
          <a:solidFill>
            <a:srgbClr val="FBF1F3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23160" y="1828800"/>
            <a:ext cx="1709928" cy="45720"/>
          </a:xfrm>
          <a:prstGeom prst="rect">
            <a:avLst/>
          </a:prstGeom>
          <a:solidFill>
            <a:srgbClr val="7E1530"/>
          </a:solidFill>
          <a:ln/>
        </p:spPr>
      </p:sp>
      <p:sp>
        <p:nvSpPr>
          <p:cNvPr id="18" name="Text 16"/>
          <p:cNvSpPr/>
          <p:nvPr/>
        </p:nvSpPr>
        <p:spPr>
          <a:xfrm>
            <a:off x="2569464" y="1975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15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69464" y="228600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pass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569464" y="2633472"/>
            <a:ext cx="1417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Worker points the phone at 5 boxes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569464" y="4096512"/>
            <a:ext cx="14173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51176" y="4169664"/>
            <a:ext cx="1453896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7E15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camera sweep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096512" y="3017520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79392" y="1828800"/>
            <a:ext cx="1709928" cy="2834640"/>
          </a:xfrm>
          <a:prstGeom prst="roundRect">
            <a:avLst>
              <a:gd name="adj" fmla="val 1872"/>
            </a:avLst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79392" y="1828800"/>
            <a:ext cx="1709928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6" name="Text 24"/>
          <p:cNvSpPr/>
          <p:nvPr/>
        </p:nvSpPr>
        <p:spPr>
          <a:xfrm>
            <a:off x="4425696" y="1975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425696" y="228600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codes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425696" y="2633472"/>
            <a:ext cx="1417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QR codes detected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425696" y="4096512"/>
            <a:ext cx="14173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07408" y="4169664"/>
            <a:ext cx="1453896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028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5 resolved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952744" y="3017520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35624" y="1828800"/>
            <a:ext cx="1709928" cy="2834640"/>
          </a:xfrm>
          <a:prstGeom prst="roundRect">
            <a:avLst>
              <a:gd name="adj" fmla="val 1872"/>
            </a:avLst>
          </a:prstGeom>
          <a:solidFill>
            <a:srgbClr val="FBF1F3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35624" y="1828800"/>
            <a:ext cx="1709928" cy="45720"/>
          </a:xfrm>
          <a:prstGeom prst="rect">
            <a:avLst/>
          </a:prstGeom>
          <a:solidFill>
            <a:srgbClr val="7E1530"/>
          </a:solidFill>
          <a:ln/>
        </p:spPr>
      </p:sp>
      <p:sp>
        <p:nvSpPr>
          <p:cNvPr id="34" name="Text 32"/>
          <p:cNvSpPr/>
          <p:nvPr/>
        </p:nvSpPr>
        <p:spPr>
          <a:xfrm>
            <a:off x="6281928" y="1975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15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81928" y="228600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eyes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6281928" y="2633472"/>
            <a:ext cx="1417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Vision sees 4 monitors and 1 HP printer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281928" y="4096512"/>
            <a:ext cx="14173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63640" y="4169664"/>
            <a:ext cx="1453896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7E15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× PRINTER-HP ← not on PO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808976" y="3017520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991856" y="1828800"/>
            <a:ext cx="1709928" cy="2834640"/>
          </a:xfrm>
          <a:prstGeom prst="roundRect">
            <a:avLst>
              <a:gd name="adj" fmla="val 1872"/>
            </a:avLst>
          </a:prstGeom>
          <a:solidFill>
            <a:srgbClr val="FEF2F2"/>
          </a:solidFill>
          <a:ln w="22860">
            <a:solidFill>
              <a:srgbClr val="FECACA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991856" y="1828800"/>
            <a:ext cx="1709928" cy="4572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42" name="Text 40"/>
          <p:cNvSpPr/>
          <p:nvPr/>
        </p:nvSpPr>
        <p:spPr>
          <a:xfrm>
            <a:off x="8138160" y="1975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138160" y="228600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verdict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8138160" y="2633472"/>
            <a:ext cx="1417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MISMATCH — 1 item needs attention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8138160" y="4096512"/>
            <a:ext cx="14173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19872" y="4169664"/>
            <a:ext cx="1453896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MISMATCH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9665208" y="3017520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9848088" y="1828800"/>
            <a:ext cx="1709928" cy="2834640"/>
          </a:xfrm>
          <a:prstGeom prst="roundRect">
            <a:avLst>
              <a:gd name="adj" fmla="val 1872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6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9848088" y="1828800"/>
            <a:ext cx="1709928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0" name="Text 48"/>
          <p:cNvSpPr/>
          <p:nvPr/>
        </p:nvSpPr>
        <p:spPr>
          <a:xfrm>
            <a:off x="9994392" y="1975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9994392" y="228600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record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9994392" y="2633472"/>
            <a:ext cx="1417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Discrepancy report generated, database updated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9994392" y="4096512"/>
            <a:ext cx="14173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976104" y="4169664"/>
            <a:ext cx="1453896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 — no typing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66928" y="4864608"/>
            <a:ext cx="11055096" cy="969264"/>
          </a:xfrm>
          <a:prstGeom prst="roundRect">
            <a:avLst>
              <a:gd name="adj" fmla="val 3302"/>
            </a:avLst>
          </a:prstGeom>
          <a:solidFill>
            <a:srgbClr val="FEF2F2"/>
          </a:solidFill>
          <a:ln w="17780">
            <a:solidFill>
              <a:srgbClr val="FECACA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6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877824" y="49743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printer is the point.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4133088" y="4956048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barcode scanner reports four good scans and moves on. Only something that looks at the cargo notices that the fifth box is a different product entirely — and that is exactly the error that surfaces six weeks later as an invoice dispute.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7E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IMPACT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work shrinks; errors surface while evidence exists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0692079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Modelled on a 40-carton inbound. These are targets for the pilot to confirm, not measured results.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190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VeriTransit  ·  AI verification for B2B commerce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795967" y="64190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 / 19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1773936"/>
            <a:ext cx="5486400" cy="3310128"/>
          </a:xfrm>
          <a:prstGeom prst="roundRect">
            <a:avLst>
              <a:gd name="adj" fmla="val 9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90195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Minutes per inbound shipment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08576" y="190195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B453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</a:t>
            </a:r>
            <a:endParaRPr lang="en-US" sz="8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658368" y="2157984"/>
          <a:ext cx="53035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6291072" y="1773936"/>
            <a:ext cx="5330952" cy="3310128"/>
          </a:xfrm>
          <a:prstGeom prst="roundRect">
            <a:avLst>
              <a:gd name="adj" fmla="val 9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547104" y="190195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the error is caught (% of errors)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149840" y="190195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B453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</a:t>
            </a:r>
            <a:endParaRPr lang="en-US" sz="850" dirty="0"/>
          </a:p>
        </p:txBody>
      </p:sp>
      <p:graphicFrame>
        <p:nvGraphicFramePr>
          <p:cNvPr id="15" name="Chart 1" descr=""/>
          <p:cNvGraphicFramePr/>
          <p:nvPr/>
        </p:nvGraphicFramePr>
        <p:xfrm>
          <a:off x="6382512" y="2157984"/>
          <a:ext cx="5148072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Shape 12"/>
          <p:cNvSpPr/>
          <p:nvPr/>
        </p:nvSpPr>
        <p:spPr>
          <a:xfrm>
            <a:off x="566928" y="5230368"/>
            <a:ext cx="32004" cy="475488"/>
          </a:xfrm>
          <a:prstGeom prst="rect">
            <a:avLst/>
          </a:prstGeom>
          <a:solidFill>
            <a:srgbClr val="7E1530"/>
          </a:solidFill>
          <a:ln/>
        </p:spPr>
      </p:sp>
      <p:sp>
        <p:nvSpPr>
          <p:cNvPr id="17" name="Text 13"/>
          <p:cNvSpPr/>
          <p:nvPr/>
        </p:nvSpPr>
        <p:spPr>
          <a:xfrm>
            <a:off x="731520" y="5193792"/>
            <a:ext cx="10890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Catching a short shipment at the dock is a two-minute conversation. Catching it at invoice matching is a six-week receivable.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566928" y="5870448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model, not measured: manual = per-carton visual check, tally sheet and later ERP entry; VeriTransit = one camera pass plus exception handling. Editable in data/charts.json; to be replaced with pilot timings.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7E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WE ARE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hard parts are built; the pilot is what is left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0692079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Kotlin end to end — one set of models shared by the app, the server, the console and the bot.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190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VeriTransit  ·  AI verification for B2B commerce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795967" y="64190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/ 19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1792224"/>
            <a:ext cx="5815584" cy="3749040"/>
          </a:xfrm>
          <a:prstGeom prst="roundRect">
            <a:avLst>
              <a:gd name="adj" fmla="val 8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1956816"/>
            <a:ext cx="1481328" cy="292608"/>
          </a:xfrm>
          <a:prstGeom prst="roundRect">
            <a:avLst>
              <a:gd name="adj" fmla="val 156250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956816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RUNNING TODAY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59536" y="2487168"/>
            <a:ext cx="100584" cy="10058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1078992" y="2395728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app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78992" y="261518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Compose UI, field + warehouse + delivery flows, camera scanning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59536" y="2999232"/>
            <a:ext cx="100584" cy="10058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1078992" y="290779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On-device AI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78992" y="312724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vision and document reading on the phone's NPU, offline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59536" y="3511296"/>
            <a:ext cx="100584" cy="10058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1078992" y="3419856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78992" y="363931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Kotlin/Ktor, Postgres, reconciliation and append-only audit chain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59536" y="4023360"/>
            <a:ext cx="100584" cy="10058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1078992" y="393192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console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78992" y="4151376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shipments, documents, discrepancy queue, evidence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59536" y="4535424"/>
            <a:ext cx="100584" cy="10058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1078992" y="4443984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Telegram agent surface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78992" y="46634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 a shipment, receive alerts, approve in chat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59536" y="5047488"/>
            <a:ext cx="100584" cy="10058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7" name="Text 25"/>
          <p:cNvSpPr/>
          <p:nvPr/>
        </p:nvSpPr>
        <p:spPr>
          <a:xfrm>
            <a:off x="1078992" y="4956048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Signed labels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78992" y="517550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Ed25519 tokens verified on the device with no network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638544" y="1792224"/>
            <a:ext cx="4983480" cy="3749040"/>
          </a:xfrm>
          <a:prstGeom prst="roundRect">
            <a:avLst>
              <a:gd name="adj" fmla="val 854"/>
            </a:avLst>
          </a:prstGeom>
          <a:solidFill>
            <a:srgbClr val="EFEDE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912864" y="1956816"/>
            <a:ext cx="1188720" cy="292608"/>
          </a:xfrm>
          <a:prstGeom prst="roundRect">
            <a:avLst>
              <a:gd name="adj" fmla="val 156250"/>
            </a:avLst>
          </a:prstGeom>
          <a:solidFill>
            <a:srgbClr val="FFFFFF"/>
          </a:solidFill>
          <a:ln w="12700">
            <a:solidFill>
              <a:srgbClr val="7E153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12864" y="1956816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7E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912864" y="2414016"/>
            <a:ext cx="44348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12864" y="2505456"/>
            <a:ext cx="41148" cy="475488"/>
          </a:xfrm>
          <a:prstGeom prst="rect">
            <a:avLst/>
          </a:prstGeom>
          <a:solidFill>
            <a:srgbClr val="7E1530"/>
          </a:solidFill>
          <a:ln/>
        </p:spPr>
      </p:sp>
      <p:sp>
        <p:nvSpPr>
          <p:cNvPr id="34" name="Text 32"/>
          <p:cNvSpPr/>
          <p:nvPr/>
        </p:nvSpPr>
        <p:spPr>
          <a:xfrm>
            <a:off x="7077456" y="2487168"/>
            <a:ext cx="4215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on one inbound dock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077456" y="2761488"/>
            <a:ext cx="4215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the numbers on slide 17 for real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912864" y="3200400"/>
            <a:ext cx="44348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912864" y="3291840"/>
            <a:ext cx="41148" cy="475488"/>
          </a:xfrm>
          <a:prstGeom prst="rect">
            <a:avLst/>
          </a:prstGeom>
          <a:solidFill>
            <a:srgbClr val="7E1530"/>
          </a:solidFill>
          <a:ln/>
        </p:spPr>
      </p:sp>
      <p:sp>
        <p:nvSpPr>
          <p:cNvPr id="38" name="Text 36"/>
          <p:cNvSpPr/>
          <p:nvPr/>
        </p:nvSpPr>
        <p:spPr>
          <a:xfrm>
            <a:off x="7077456" y="3273552"/>
            <a:ext cx="4215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/ WMS write-back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7077456" y="3547872"/>
            <a:ext cx="4215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GRN straight into the customer's system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912864" y="3986784"/>
            <a:ext cx="44348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12864" y="4078224"/>
            <a:ext cx="41148" cy="4754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2" name="Text 40"/>
          <p:cNvSpPr/>
          <p:nvPr/>
        </p:nvSpPr>
        <p:spPr>
          <a:xfrm>
            <a:off x="7077456" y="4059936"/>
            <a:ext cx="4215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 scorecards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7077456" y="4334256"/>
            <a:ext cx="4215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discrepancy history per supplier and route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912864" y="4773168"/>
            <a:ext cx="44348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912864" y="4864608"/>
            <a:ext cx="41148" cy="4754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6" name="Text 44"/>
          <p:cNvSpPr/>
          <p:nvPr/>
        </p:nvSpPr>
        <p:spPr>
          <a:xfrm>
            <a:off x="7077456" y="4846320"/>
            <a:ext cx="4215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 release signal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7077456" y="5120640"/>
            <a:ext cx="4215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receipt as a gate, under finance policy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66928" y="5632704"/>
            <a:ext cx="32004" cy="475488"/>
          </a:xfrm>
          <a:prstGeom prst="rect">
            <a:avLst/>
          </a:prstGeom>
          <a:solidFill>
            <a:srgbClr val="7E1530"/>
          </a:solidFill>
          <a:ln/>
        </p:spPr>
      </p:sp>
      <p:sp>
        <p:nvSpPr>
          <p:cNvPr id="49" name="Text 47"/>
          <p:cNvSpPr/>
          <p:nvPr/>
        </p:nvSpPr>
        <p:spPr>
          <a:xfrm>
            <a:off x="731520" y="5596128"/>
            <a:ext cx="10890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need from a pilot partner is one dock, one week, and access to the PO feed.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5C0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2984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40" kern="0" dirty="0">
                <a:solidFill>
                  <a:srgbClr val="E7C3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POSITION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1737360"/>
            <a:ext cx="10424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AI-powered physical verification for B2B commerce — built as a worker copilot, not another enterprise system.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3383280"/>
            <a:ext cx="822960" cy="411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3931920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do not replace the worker.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66928" y="448056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C89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camera pass replaces the counting, the tally sheet and the data entry.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51960" y="3931920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do not decide the money.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251960" y="448056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C89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supply the physical evidence the three-way match has always been missing.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936992" y="3931920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do not need new hardware.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936992" y="448056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C89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phone the site already owns, working offline, on the dock.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5852160"/>
            <a:ext cx="11055096" cy="0"/>
          </a:xfrm>
          <a:prstGeom prst="line">
            <a:avLst/>
          </a:prstGeom>
          <a:noFill/>
          <a:ln w="9525">
            <a:solidFill>
              <a:srgbClr val="8A42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59984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VeriTransit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58768" y="6016752"/>
            <a:ext cx="7763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C89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B2B transaction has two realities. We make them agree at the dock.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VeriTransit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VeriTransit — AI verification for B2B commerce</dc:title>
  <dc:subject>Worker copilot for physical-to-digital shipment verification</dc:subject>
  <dc:creator>VeriTransit</dc:creator>
  <cp:lastModifiedBy>VeriTransit</cp:lastModifiedBy>
  <cp:revision>1</cp:revision>
  <dcterms:created xsi:type="dcterms:W3CDTF">2026-09-12T13:29:59Z</dcterms:created>
  <dcterms:modified xsi:type="dcterms:W3CDTF">2026-09-12T13:29:59Z</dcterms:modified>
</cp:coreProperties>
</file>